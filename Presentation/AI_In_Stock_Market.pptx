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1" r:id="rId1"/>
  </p:sldMasterIdLst>
  <p:sldIdLst>
    <p:sldId id="256" r:id="rId2"/>
    <p:sldId id="258" r:id="rId3"/>
    <p:sldId id="272" r:id="rId4"/>
    <p:sldId id="271" r:id="rId5"/>
    <p:sldId id="273" r:id="rId6"/>
    <p:sldId id="270" r:id="rId7"/>
    <p:sldId id="269" r:id="rId8"/>
    <p:sldId id="264" r:id="rId9"/>
    <p:sldId id="266" r:id="rId10"/>
    <p:sldId id="262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677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0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968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4631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36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57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522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947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6402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71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1610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0176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28147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030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57001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727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5564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534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04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2" r:id="rId1"/>
    <p:sldLayoutId id="2147483993" r:id="rId2"/>
    <p:sldLayoutId id="2147483994" r:id="rId3"/>
    <p:sldLayoutId id="2147483995" r:id="rId4"/>
    <p:sldLayoutId id="2147483996" r:id="rId5"/>
    <p:sldLayoutId id="2147483997" r:id="rId6"/>
    <p:sldLayoutId id="2147483998" r:id="rId7"/>
    <p:sldLayoutId id="2147483999" r:id="rId8"/>
    <p:sldLayoutId id="2147484000" r:id="rId9"/>
    <p:sldLayoutId id="2147484001" r:id="rId10"/>
    <p:sldLayoutId id="2147484002" r:id="rId11"/>
    <p:sldLayoutId id="2147484003" r:id="rId12"/>
    <p:sldLayoutId id="2147484004" r:id="rId13"/>
    <p:sldLayoutId id="2147484005" r:id="rId14"/>
    <p:sldLayoutId id="2147484006" r:id="rId15"/>
    <p:sldLayoutId id="2147484007" r:id="rId16"/>
    <p:sldLayoutId id="2147484008" r:id="rId17"/>
    <p:sldLayoutId id="2147484009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aistockmarketanalysis.streamlit.app/" TargetMode="Externa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2438400"/>
            <a:ext cx="6517482" cy="838200"/>
          </a:xfrm>
        </p:spPr>
        <p:txBody>
          <a:bodyPr/>
          <a:lstStyle/>
          <a:p>
            <a:r>
              <a:rPr lang="en-US" dirty="0"/>
              <a:t>AI In Stock Market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581401"/>
            <a:ext cx="6517482" cy="636638"/>
          </a:xfrm>
        </p:spPr>
        <p:txBody>
          <a:bodyPr/>
          <a:lstStyle/>
          <a:p>
            <a:r>
              <a:rPr dirty="0"/>
              <a:t>By </a:t>
            </a:r>
            <a:r>
              <a:rPr lang="en-US" dirty="0"/>
              <a:t>Anish Katoch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808" y="201323"/>
            <a:ext cx="6589199" cy="1280890"/>
          </a:xfrm>
        </p:spPr>
        <p:txBody>
          <a:bodyPr/>
          <a:lstStyle/>
          <a:p>
            <a:r>
              <a:rPr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813" y="1317524"/>
            <a:ext cx="8790039" cy="5063612"/>
          </a:xfrm>
        </p:spPr>
        <p:txBody>
          <a:bodyPr>
            <a:normAutofit/>
          </a:bodyPr>
          <a:lstStyle/>
          <a:p>
            <a:r>
              <a:rPr dirty="0"/>
              <a:t>The project addresses the challenge  </a:t>
            </a:r>
            <a:r>
              <a:rPr lang="en-US" dirty="0"/>
              <a:t>In the stock market </a:t>
            </a:r>
          </a:p>
          <a:p>
            <a:pPr lvl="1"/>
            <a:r>
              <a:rPr lang="en-US" dirty="0"/>
              <a:t>most people struggle to understand price and volume signals.</a:t>
            </a:r>
          </a:p>
          <a:p>
            <a:pPr lvl="1"/>
            <a:r>
              <a:rPr lang="en-US" dirty="0"/>
              <a:t>prices going up and down but can’t tell if it’s a real trend or just noise.</a:t>
            </a:r>
          </a:p>
          <a:p>
            <a:pPr lvl="1"/>
            <a:r>
              <a:rPr lang="en-US" dirty="0"/>
              <a:t>Traders often fail to recognize if a stock is in accumulation, losing momentum, or about to reverse.</a:t>
            </a:r>
          </a:p>
          <a:p>
            <a:pPr lvl="1"/>
            <a:r>
              <a:rPr lang="en-US" dirty="0"/>
              <a:t>Too many technical indicators give mixed signals, some say “buy” while others say “sell.”</a:t>
            </a:r>
          </a:p>
          <a:p>
            <a:pPr lvl="1"/>
            <a:r>
              <a:rPr lang="en-US" dirty="0"/>
              <a:t>Sudden spikes in volume or price drops catch people by surprise.</a:t>
            </a:r>
          </a:p>
          <a:p>
            <a:pPr marL="457200" lvl="1" indent="0">
              <a:buNone/>
            </a:pP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This confusion leads to bad timing, emotional decisions, and financial losses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32429-0575-B12D-AEF3-C8D65AE42B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961" y="496833"/>
            <a:ext cx="8180439" cy="899890"/>
          </a:xfrm>
        </p:spPr>
        <p:txBody>
          <a:bodyPr>
            <a:normAutofit/>
          </a:bodyPr>
          <a:lstStyle/>
          <a:p>
            <a:r>
              <a:rPr lang="en-US" dirty="0"/>
              <a:t>Importance of solving this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A4C2F-1F10-EC69-3DE6-4AB598088D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743" y="1946787"/>
            <a:ext cx="7698658" cy="3777622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Helps traders clearly identify market trends and signals.</a:t>
            </a:r>
          </a:p>
          <a:p>
            <a:r>
              <a:rPr lang="en-US" dirty="0"/>
              <a:t>Reduces guesswork and avoids confusion from mixed indicators.</a:t>
            </a:r>
          </a:p>
          <a:p>
            <a:r>
              <a:rPr lang="en-US" dirty="0"/>
              <a:t>Builds confidence in making trading decisions.</a:t>
            </a:r>
          </a:p>
          <a:p>
            <a:r>
              <a:rPr lang="en-US" dirty="0"/>
              <a:t>Minimizes emotional trading by relying on data.</a:t>
            </a:r>
          </a:p>
          <a:p>
            <a:r>
              <a:rPr lang="en-US" dirty="0"/>
              <a:t>Combines trend prediction, technical indicators, anomaly detection, and forecasting into one system.</a:t>
            </a:r>
          </a:p>
          <a:p>
            <a:r>
              <a:rPr lang="en-US" dirty="0"/>
              <a:t>Provides a clear, data-driven view of the market.</a:t>
            </a:r>
          </a:p>
          <a:p>
            <a:r>
              <a:rPr lang="en-US" dirty="0"/>
              <a:t>Empowers traders to make smarter, consistent, and profitable decisions.</a:t>
            </a:r>
          </a:p>
        </p:txBody>
      </p:sp>
    </p:spTree>
    <p:extLst>
      <p:ext uri="{BB962C8B-B14F-4D97-AF65-F5344CB8AC3E}">
        <p14:creationId xmlns:p14="http://schemas.microsoft.com/office/powerpoint/2010/main" val="208615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50C67-D9B0-477A-260C-E32092437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962" y="72156"/>
            <a:ext cx="6589199" cy="1009393"/>
          </a:xfrm>
        </p:spPr>
        <p:txBody>
          <a:bodyPr>
            <a:normAutofit fontScale="90000"/>
          </a:bodyPr>
          <a:lstStyle/>
          <a:p>
            <a:r>
              <a:rPr lang="en-US" dirty="0"/>
              <a:t>Methodology – Approach, dataset, tools/technologies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A0B9A8-E857-5E7E-221E-C628912F8BE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80218" y="1571016"/>
            <a:ext cx="8716297" cy="507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Approach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1800" b="1" dirty="0"/>
              <a:t>Data Preparation </a:t>
            </a:r>
            <a:r>
              <a:rPr lang="en-US" sz="1800" dirty="0"/>
              <a:t>– Collected 2 years of Tata Motors stock price data from NSE India (Open, High, Low, Close, Volume).</a:t>
            </a:r>
          </a:p>
          <a:p>
            <a:r>
              <a:rPr lang="en-US" sz="1800" b="1" dirty="0"/>
              <a:t>Feature Engineering </a:t>
            </a:r>
            <a:r>
              <a:rPr lang="en-US" sz="1800" dirty="0"/>
              <a:t>– Created technical indicators: SMA20, SMA50, RSI(14), MACD, returns, volatility, lag features.</a:t>
            </a:r>
          </a:p>
          <a:p>
            <a:r>
              <a:rPr lang="en-US" sz="1800" b="1" dirty="0"/>
              <a:t>Target Variable </a:t>
            </a:r>
            <a:r>
              <a:rPr lang="en-US" sz="1800" dirty="0"/>
              <a:t>– Defined tomorrow’s trend: 1 = Up, 0 = Down, using shifted close prices.</a:t>
            </a:r>
          </a:p>
          <a:p>
            <a:r>
              <a:rPr lang="en-US" sz="1800" b="1" dirty="0"/>
              <a:t>Model Training </a:t>
            </a:r>
            <a:r>
              <a:rPr lang="en-US" sz="1800" dirty="0"/>
              <a:t>– Applied RandomForestClassifier for up/down prediction, ensuring time-series split (no random shuffling).</a:t>
            </a:r>
          </a:p>
          <a:p>
            <a:r>
              <a:rPr lang="en-US" sz="1800" b="1" dirty="0"/>
              <a:t>Forecasting</a:t>
            </a:r>
            <a:r>
              <a:rPr lang="en-US" sz="1800" dirty="0"/>
              <a:t> – Used Prophet to project future stock trends.</a:t>
            </a:r>
          </a:p>
          <a:p>
            <a:r>
              <a:rPr lang="en-US" sz="1800" b="1" dirty="0"/>
              <a:t>Visualization</a:t>
            </a:r>
            <a:r>
              <a:rPr lang="en-US" sz="1800" dirty="0"/>
              <a:t> – Built interactive charts to display trends, anomalies, volume patterns, and predictions.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7039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01BE01-A795-D52A-9CCB-7685382FA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780" y="688258"/>
            <a:ext cx="8327923" cy="5506065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b="1" u="sng" cap="none" dirty="0">
                <a:latin typeface="Arial" panose="020B0604020202020204" pitchFamily="34" charset="0"/>
              </a:rPr>
              <a:t>Dataset</a:t>
            </a:r>
            <a:r>
              <a:rPr lang="en-US" altLang="en-US" b="1" cap="none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>
              <a:latin typeface="Arial" panose="020B0604020202020204" pitchFamily="34" charset="0"/>
            </a:endParaRPr>
          </a:p>
          <a:p>
            <a:r>
              <a:rPr lang="en-US" b="1" dirty="0"/>
              <a:t>Source</a:t>
            </a:r>
            <a:r>
              <a:rPr lang="en-US" dirty="0"/>
              <a:t>: Historical stock market data from NSE India (Tata Motors, last 2 years).</a:t>
            </a:r>
          </a:p>
          <a:p>
            <a:r>
              <a:rPr lang="en-US" b="1" dirty="0"/>
              <a:t>Data Type</a:t>
            </a:r>
            <a:r>
              <a:rPr lang="en-US" dirty="0"/>
              <a:t>: OHLCV (Open, High, Low, Close, Volume) daily data.</a:t>
            </a:r>
          </a:p>
          <a:p>
            <a:r>
              <a:rPr lang="en-US" b="1" dirty="0"/>
              <a:t>Derived Features</a:t>
            </a:r>
            <a:r>
              <a:rPr lang="en-US" dirty="0"/>
              <a:t>: Moving Averages (SMA20, SMA50), RSI(14), MACD &amp; MACD Histogram, volatility, ROC, lag features, accumulation signals.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b="1" u="sng" cap="none" dirty="0">
                <a:latin typeface="Arial" panose="020B0604020202020204" pitchFamily="34" charset="0"/>
              </a:rPr>
              <a:t>Tools &amp; Technologies</a:t>
            </a:r>
            <a:r>
              <a:rPr lang="en-US" altLang="en-US" b="1" cap="none" dirty="0">
                <a:latin typeface="Arial" panose="020B0604020202020204" pitchFamily="34" charset="0"/>
              </a:rPr>
              <a:t>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cap="none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b="1" cap="none" dirty="0"/>
              <a:t>PYTHON</a:t>
            </a:r>
            <a:r>
              <a:rPr lang="en-US" altLang="en-US" sz="2100" cap="none" dirty="0"/>
              <a:t> (PANDAS, NUMPY, SCIKIT-LEARN, PROPHET, TA LIBRARY).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b="1" cap="none" dirty="0"/>
              <a:t>RANDOMFORESTCLASSIFIER</a:t>
            </a:r>
            <a:r>
              <a:rPr lang="en-US" altLang="en-US" sz="2100" cap="none" dirty="0"/>
              <a:t> FOR CLASSIFICATION.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b="1" cap="none" dirty="0"/>
              <a:t>PROPHET</a:t>
            </a:r>
            <a:r>
              <a:rPr lang="en-US" altLang="en-US" sz="2100" cap="none" dirty="0"/>
              <a:t> FOR FORECASTING.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b="1" cap="none" dirty="0"/>
              <a:t>MATPLOTLIB / PLOTLY</a:t>
            </a:r>
            <a:r>
              <a:rPr lang="en-US" altLang="en-US" sz="2100" cap="none" dirty="0"/>
              <a:t> FOR VISUALIZATION.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2100" b="1" cap="none" dirty="0"/>
              <a:t>STREAMLIT</a:t>
            </a:r>
            <a:r>
              <a:rPr lang="en-US" altLang="en-US" sz="2100" cap="none" dirty="0"/>
              <a:t> FOR BUILDING AN INTERACTIVE DEMO/DASHBOARD</a:t>
            </a:r>
            <a:endParaRPr lang="en-US" sz="2100" cap="none" dirty="0"/>
          </a:p>
        </p:txBody>
      </p:sp>
    </p:spTree>
    <p:extLst>
      <p:ext uri="{BB962C8B-B14F-4D97-AF65-F5344CB8AC3E}">
        <p14:creationId xmlns:p14="http://schemas.microsoft.com/office/powerpoint/2010/main" val="329681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09B55-EC8D-DDCE-51E6-0B0E394AF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4220" y="279981"/>
            <a:ext cx="6952201" cy="1280890"/>
          </a:xfrm>
        </p:spPr>
        <p:txBody>
          <a:bodyPr/>
          <a:lstStyle/>
          <a:p>
            <a:r>
              <a:rPr lang="en-US" dirty="0"/>
              <a:t>Objectives – Key goals of the project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6E1679A-D8B0-CF1A-47B0-B9554D8792E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2832" y="1898715"/>
            <a:ext cx="8174979" cy="37871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PREDICT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NEXT-DAY STOCK MOVEMENT (UP/DOWN)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MACHINE LEARNING.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PROVIDE TRADERS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TREND SIGNALS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SMA20 AND SMA50.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MOMENTUM AND STRENGTH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USING RSI AND MACD.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DETECT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ACCUMULATION PHASES AND VOLUME ANOMALIES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BREAKOUT SIGNALS.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FORECAST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FUTURE STOCK MOVEMENT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BETTER PLANNING.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TO COMBINE ALL INSIGHTS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ONE PLATFORM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SO TRADERS AVOID CONFUSION FROM MULTIPLE SCATTERED TOOLS.</a:t>
            </a:r>
          </a:p>
        </p:txBody>
      </p:sp>
    </p:spTree>
    <p:extLst>
      <p:ext uri="{BB962C8B-B14F-4D97-AF65-F5344CB8AC3E}">
        <p14:creationId xmlns:p14="http://schemas.microsoft.com/office/powerpoint/2010/main" val="9402560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159181-77B2-860E-8756-E1EA5C2C6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594" y="25880"/>
            <a:ext cx="6589199" cy="646331"/>
          </a:xfrm>
        </p:spPr>
        <p:txBody>
          <a:bodyPr/>
          <a:lstStyle/>
          <a:p>
            <a:r>
              <a:rPr lang="en-US" dirty="0"/>
              <a:t>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FBF94-F5C4-76A7-40B7-8CA64E1BD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1445342"/>
            <a:ext cx="8554064" cy="489277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 stock prediction system that uses Random Forest classification Model to predict whether a stock will move </a:t>
            </a:r>
            <a:r>
              <a:rPr lang="en-US" b="1" dirty="0"/>
              <a:t>up or down</a:t>
            </a:r>
            <a:r>
              <a:rPr lang="en-US" dirty="0"/>
              <a:t> the next day. </a:t>
            </a:r>
          </a:p>
          <a:p>
            <a:pPr lvl="1"/>
            <a:r>
              <a:rPr lang="en-US" dirty="0"/>
              <a:t>Random Forest achieved ~75% accuracy for Up/Down trend classification.</a:t>
            </a:r>
          </a:p>
          <a:p>
            <a:r>
              <a:rPr lang="en-US" b="1" dirty="0"/>
              <a:t>SMA20 &amp; SMA50</a:t>
            </a:r>
            <a:r>
              <a:rPr lang="en-US" dirty="0"/>
              <a:t> </a:t>
            </a:r>
            <a:r>
              <a:rPr lang="en-US" b="1" dirty="0"/>
              <a:t>&amp; SMA200</a:t>
            </a:r>
            <a:r>
              <a:rPr lang="en-US" dirty="0"/>
              <a:t> → for short-term and medium-term trend identification.</a:t>
            </a:r>
          </a:p>
          <a:p>
            <a:r>
              <a:rPr lang="en-US" b="1" dirty="0"/>
              <a:t>RSI (14)</a:t>
            </a:r>
            <a:r>
              <a:rPr lang="en-US" dirty="0"/>
              <a:t> → to detect overbought/oversold zones.</a:t>
            </a:r>
          </a:p>
          <a:p>
            <a:r>
              <a:rPr lang="en-US" b="1" dirty="0"/>
              <a:t>MACD &amp; MACD histogram</a:t>
            </a:r>
            <a:r>
              <a:rPr lang="en-US" dirty="0"/>
              <a:t> → to capture momentum shifts.</a:t>
            </a:r>
          </a:p>
          <a:p>
            <a:r>
              <a:rPr lang="en-US" b="1" dirty="0"/>
              <a:t>Forecast values (</a:t>
            </a:r>
            <a:r>
              <a:rPr lang="en-US" b="1" dirty="0" err="1"/>
              <a:t>PropheT</a:t>
            </a:r>
            <a:r>
              <a:rPr lang="en-US" b="1" dirty="0"/>
              <a:t>)</a:t>
            </a:r>
            <a:r>
              <a:rPr lang="en-US" dirty="0"/>
              <a:t> → to project possible future trends and FORECAST.</a:t>
            </a:r>
          </a:p>
          <a:p>
            <a:pPr lvl="1"/>
            <a:r>
              <a:rPr lang="en-US" dirty="0"/>
              <a:t>evaluation metrics:</a:t>
            </a:r>
          </a:p>
          <a:p>
            <a:pPr lvl="1"/>
            <a:r>
              <a:rPr lang="en-US" dirty="0"/>
              <a:t>   - RMSE: 30.12</a:t>
            </a:r>
          </a:p>
          <a:p>
            <a:pPr lvl="1"/>
            <a:r>
              <a:rPr lang="en-US" dirty="0"/>
              <a:t>   - MAE: 23.22</a:t>
            </a:r>
          </a:p>
          <a:p>
            <a:r>
              <a:rPr lang="en-US" b="1" dirty="0"/>
              <a:t>Volume analysis &amp; anomalies</a:t>
            </a:r>
            <a:r>
              <a:rPr lang="en-US" dirty="0"/>
              <a:t> → to detect unusual activity.</a:t>
            </a:r>
          </a:p>
          <a:p>
            <a:r>
              <a:rPr lang="en-US" b="1" dirty="0"/>
              <a:t>Accumulation zone detection</a:t>
            </a:r>
            <a:r>
              <a:rPr lang="en-US" dirty="0"/>
              <a:t> → to highlight consolidation before breakouts.</a:t>
            </a:r>
          </a:p>
          <a:p>
            <a:r>
              <a:rPr lang="en-US" dirty="0"/>
              <a:t>The outcome is a combined dashboard where traders can see next-day predictions, indicator charts, anomalies, and forecasts, making trading decisions clearer and more structured.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7E1715-A40C-B08A-7D0C-154BC46349EB}"/>
              </a:ext>
            </a:extLst>
          </p:cNvPr>
          <p:cNvSpPr txBox="1"/>
          <p:nvPr/>
        </p:nvSpPr>
        <p:spPr>
          <a:xfrm>
            <a:off x="1866541" y="706694"/>
            <a:ext cx="61451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 to website : </a:t>
            </a:r>
            <a:r>
              <a:rPr lang="en-US" dirty="0">
                <a:hlinkClick r:id="rId2"/>
              </a:rPr>
              <a:t>https://aistockmarketanalysis.streamlit.app/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3199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25ED2-FA89-5069-7903-7DFABC25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7400" y="9833"/>
            <a:ext cx="6589199" cy="518410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5520B39-D372-A380-B7ED-C9EF1452F3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0156" y="698093"/>
            <a:ext cx="4227872" cy="2415150"/>
          </a:xfrm>
          <a:ln>
            <a:solidFill>
              <a:schemeClr val="tx1"/>
            </a:solidFill>
          </a:ln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29117E47-ED3B-DC28-BD29-95F6C0E624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74" y="698093"/>
            <a:ext cx="4227872" cy="24151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1675A0-110C-5A29-9568-E8C1749BC8FF}"/>
              </a:ext>
            </a:extLst>
          </p:cNvPr>
          <p:cNvSpPr txBox="1"/>
          <p:nvPr/>
        </p:nvSpPr>
        <p:spPr>
          <a:xfrm>
            <a:off x="235972" y="3283093"/>
            <a:ext cx="422787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📉 Below SMA-200 → clear long-term downtrend.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🔻 SMA-20 &lt; SMA-50 → weakness sustained.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❌ Rallies capped below SMA-200.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⚠️ Distribution mode → sellers dominating.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👉 Long-term view: still bearish until price closes above SMA-200 with strength.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AB1602-8BA7-48A7-72A5-04E967BCED17}"/>
              </a:ext>
            </a:extLst>
          </p:cNvPr>
          <p:cNvSpPr txBox="1"/>
          <p:nvPr/>
        </p:nvSpPr>
        <p:spPr>
          <a:xfrm>
            <a:off x="4680154" y="3283093"/>
            <a:ext cx="422787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📉 Mostly below 50 → momentum has stayed weak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⚠️ Frequent dips near/below 30 → repeated oversold conditions show selling pressure dominates.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❌ Few sustained moves above 70 → no strong bullish momentum in this period.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👉 RSI confirms a bearish long-term bias. Unless RSI can stay above 50–60 with price strength, rallies are likely short-lived.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921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3229CB-9BFD-2612-818C-EC162348DF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651" y="274281"/>
            <a:ext cx="4199169" cy="2891706"/>
          </a:xfrm>
          <a:ln>
            <a:solidFill>
              <a:schemeClr val="tx1"/>
            </a:solidFill>
          </a:ln>
        </p:spPr>
      </p:pic>
      <p:pic>
        <p:nvPicPr>
          <p:cNvPr id="3" name="Content Placeholder 4">
            <a:extLst>
              <a:ext uri="{FF2B5EF4-FFF2-40B4-BE49-F238E27FC236}">
                <a16:creationId xmlns:a16="http://schemas.microsoft.com/office/drawing/2014/main" id="{DD53A2DA-CAB4-F1F7-050D-161A42859C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3174" y="274281"/>
            <a:ext cx="4365523" cy="28917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9EF42E-16E7-D754-AF11-5E1757551706}"/>
              </a:ext>
            </a:extLst>
          </p:cNvPr>
          <p:cNvSpPr txBox="1"/>
          <p:nvPr/>
        </p:nvSpPr>
        <p:spPr>
          <a:xfrm>
            <a:off x="137651" y="3377493"/>
            <a:ext cx="419916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📉 Mostly below zero → bearish momentum.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🔻 Frequent sell crossovers (MACD &lt; Signal).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❌ Bullish moves fade quickly.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🔄 Now flat near zero → weak/neutral.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👉 Bias: Still bearish unless MACD crosses up and stays positive.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09031C-9BCD-72EA-23C7-DCD8EBD2CC78}"/>
              </a:ext>
            </a:extLst>
          </p:cNvPr>
          <p:cNvSpPr txBox="1"/>
          <p:nvPr/>
        </p:nvSpPr>
        <p:spPr>
          <a:xfrm>
            <a:off x="4503174" y="3377493"/>
            <a:ext cx="429669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📈 Early 2024: strong uptrend with volume support (accumulation).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📉 Late 2024: sharp downtrend, heavy selling (distribution).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🔄 2025: price flattening 650–700 → sideways consolidation.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⚠️ Volume still spiky → no clear breakout yet.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👉 Trend: Bearish overall, now shifting into sideways consolidation — wait for breakout above ~750 with volume for reversal.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634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7400" y="144491"/>
            <a:ext cx="6589199" cy="611959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62" y="904251"/>
            <a:ext cx="8436078" cy="5022163"/>
          </a:xfrm>
        </p:spPr>
        <p:txBody>
          <a:bodyPr>
            <a:normAutofit fontScale="85000" lnSpcReduction="10000"/>
          </a:bodyPr>
          <a:lstStyle/>
          <a:p>
            <a:r>
              <a:rPr dirty="0"/>
              <a:t>Random Forest captures daily price movement signals.</a:t>
            </a:r>
          </a:p>
          <a:p>
            <a:r>
              <a:rPr dirty="0"/>
              <a:t>Prophet forecasts long-term trends with confidence intervals.</a:t>
            </a:r>
          </a:p>
          <a:p>
            <a:r>
              <a:rPr dirty="0"/>
              <a:t>Combined approach improves decision-making for investors.</a:t>
            </a:r>
          </a:p>
          <a:p>
            <a:r>
              <a:rPr dirty="0"/>
              <a:t>Helps identify accumulation/distribution phases using volume overlays.</a:t>
            </a:r>
          </a:p>
          <a:p>
            <a:r>
              <a:rPr dirty="0"/>
              <a:t>Future scope: </a:t>
            </a:r>
            <a:endParaRPr lang="en-US" dirty="0"/>
          </a:p>
          <a:p>
            <a:pPr lvl="1"/>
            <a:r>
              <a:rPr lang="en-US" sz="2100" dirty="0"/>
              <a:t>system will be designed in such a way that, for a particular day and time, it can suggest specific trading goals, for example targeting an 8% return, which will be especially valuable for futures and options trading. </a:t>
            </a:r>
          </a:p>
          <a:p>
            <a:pPr lvl="1"/>
            <a:r>
              <a:rPr lang="en-US" sz="2100" dirty="0"/>
              <a:t>to capture more complex market patterns and improve prediction accuracy.</a:t>
            </a:r>
          </a:p>
          <a:p>
            <a:pPr lvl="1"/>
            <a:r>
              <a:rPr lang="en-US" sz="2100" dirty="0"/>
              <a:t>system will be enhanced to automatically detect patterns such as trend reversals, breakouts reducing manual effort and giving traders a smarter, more reliable tool for decision-making.</a:t>
            </a:r>
          </a:p>
          <a:p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3616D9-C75F-4AA1-035A-CAE6D7406E90}"/>
              </a:ext>
            </a:extLst>
          </p:cNvPr>
          <p:cNvSpPr txBox="1"/>
          <p:nvPr/>
        </p:nvSpPr>
        <p:spPr>
          <a:xfrm>
            <a:off x="570269" y="6074215"/>
            <a:ext cx="82197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Note:- It won’t “guarantee profits,” but it helps people </a:t>
            </a:r>
            <a:r>
              <a:rPr lang="en-US" b="1" dirty="0"/>
              <a:t>avoid random guessing</a:t>
            </a:r>
            <a:r>
              <a:rPr lang="en-US" dirty="0"/>
              <a:t>, </a:t>
            </a:r>
            <a:r>
              <a:rPr lang="en-US" b="1" dirty="0"/>
              <a:t>spot better opportunities</a:t>
            </a:r>
            <a:r>
              <a:rPr lang="en-US" dirty="0"/>
              <a:t>, and </a:t>
            </a:r>
            <a:r>
              <a:rPr lang="en-US" b="1" dirty="0"/>
              <a:t>manage risk</a:t>
            </a:r>
            <a:r>
              <a:rPr lang="en-US" dirty="0"/>
              <a:t> with data-driven signals.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541</TotalTime>
  <Words>1024</Words>
  <Application>Microsoft Office PowerPoint</Application>
  <PresentationFormat>On-screen Show (4:3)</PresentationFormat>
  <Paragraphs>93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Tw Cen MT</vt:lpstr>
      <vt:lpstr>Wingdings</vt:lpstr>
      <vt:lpstr>Droplet</vt:lpstr>
      <vt:lpstr>AI In Stock Market</vt:lpstr>
      <vt:lpstr>Problem Statement</vt:lpstr>
      <vt:lpstr>Importance of solving this problem</vt:lpstr>
      <vt:lpstr>Methodology – Approach, dataset, tools/technologies</vt:lpstr>
      <vt:lpstr>PowerPoint Presentation</vt:lpstr>
      <vt:lpstr>Objectives – Key goals of the project</vt:lpstr>
      <vt:lpstr>Solution</vt:lpstr>
      <vt:lpstr>Visuals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aneesh katoch</cp:lastModifiedBy>
  <cp:revision>9</cp:revision>
  <dcterms:created xsi:type="dcterms:W3CDTF">2013-01-27T09:14:16Z</dcterms:created>
  <dcterms:modified xsi:type="dcterms:W3CDTF">2025-09-08T22:06:53Z</dcterms:modified>
  <cp:category/>
</cp:coreProperties>
</file>